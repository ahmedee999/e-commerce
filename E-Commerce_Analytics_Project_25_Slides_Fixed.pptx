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97280"/>
            <a:ext cx="1828800" cy="1234440"/>
          </a:xfrm>
          <a:prstGeom prst="roundRect">
            <a:avLst>
              <a:gd name="adj" fmla="val 11852"/>
            </a:avLst>
          </a:prstGeom>
          <a:solidFill>
            <a:srgbClr val="22B8B0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1828800"/>
            <a:ext cx="914400" cy="1828800"/>
          </a:xfrm>
          <a:prstGeom prst="roundRect">
            <a:avLst>
              <a:gd name="adj" fmla="val 16000"/>
            </a:avLst>
          </a:prstGeom>
          <a:solidFill>
            <a:srgbClr val="F28B45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3291840"/>
            <a:ext cx="1188720" cy="1188720"/>
          </a:xfrm>
          <a:prstGeom prst="roundRect">
            <a:avLst>
              <a:gd name="adj" fmla="val 12308"/>
            </a:avLst>
          </a:prstGeom>
          <a:solidFill>
            <a:srgbClr val="F2F6F9"/>
          </a:solidFill>
          <a:ln w="12700">
            <a:solidFill>
              <a:srgbClr val="F2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Returns &amp; Profitability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•  Customer Lifecycle  •  Customer Value  •  Products  •  Returns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Hady Abohany  •  Rojeh Tamer  •  Ibrahim Desouky  •  Ahmed Shaban  •  Yousef Sayed  •  Ahmed Mohamed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Responsibilities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distribution for the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Hady Abohany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5087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Margins  •  Visualization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3134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Rojeh Tamer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31343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built in Power BI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11810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Sayed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118104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Lifecycle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93C"/>
          </a:solidFill>
          <a:ln w="12700">
            <a:solidFill>
              <a:srgbClr val="9B7B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92277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Mohamed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922776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7274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Desouky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47274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+ first three product / device queries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93C"/>
          </a:solidFill>
          <a:ln w="12700">
            <a:solidFill>
              <a:srgbClr val="E458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55321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Shaban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55321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with Ibrahim on the first three product / device queries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marketplace data into operational insights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marketplace operating across multiple regions and devices.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place orders, purchase items, and sometimes return them.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answers the COO's questions about revenue, customer behavior, products, and returns.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90872" cy="1371600"/>
          </a:xfrm>
          <a:prstGeom prst="roundRect">
            <a:avLst>
              <a:gd name="adj" fmla="val 6667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50608" y="1609344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150608" y="1865376"/>
            <a:ext cx="4288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150608" y="237744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p2_users table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0" y="2971800"/>
            <a:ext cx="4690872" cy="1371600"/>
          </a:xfrm>
          <a:prstGeom prst="roundRect">
            <a:avLst>
              <a:gd name="adj" fmla="val 6667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50608" y="3118104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3374136"/>
            <a:ext cx="4288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388620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• orders • order_items • returns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4480560"/>
            <a:ext cx="4690872" cy="1371600"/>
          </a:xfrm>
          <a:prstGeom prst="roundRect">
            <a:avLst>
              <a:gd name="adj" fmla="val 6667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50608" y="4626864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AREAS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4882896"/>
            <a:ext cx="4288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539496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• lifecycle • value • products/returns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tables used in the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p2_users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84248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 •  region  •  signup_date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883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p2_orders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08376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 •  user_id  •  order_date  •  device  •  region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124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p2_order_items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32504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 •  sku  •  category  •  qty  •  unit_price  •  discount  •  cogs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26864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7293C"/>
          </a:solidFill>
          <a:ln w="12700">
            <a:solidFill>
              <a:srgbClr val="E45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736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p2_returns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056632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 •  return_reason  •  return_date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  •  HOME  •  FASH  •  SPORT  •  BEAUTY  •  GROC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 →  results  →  visualizations  → 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373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2140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42032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aggregates and calculations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75888" y="17373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212140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2542032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margin, retention, spend, returns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01968" y="17373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01968" y="212140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542032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embedded from the notebook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0" y="16002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7293C"/>
          </a:solidFill>
          <a:ln w="12700">
            <a:solidFill>
              <a:srgbClr val="9B7B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28048" y="17373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528048" y="212140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528048" y="2542032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takeaways for the COO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AFTER DISCOUNT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26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(GMV − Discount)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29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monthly revenue 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28232" y="406908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656832" y="4526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− Discount − COGS − Shipping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656832" y="5029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regional margin analysis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Margins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Hady  •  Monthly revenue before vs. after discounts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0372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work/img/charts/revenue_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80062"/>
            <a:ext cx="6720840" cy="33264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14416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before vs. after discounts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18120" y="1508760"/>
            <a:ext cx="3822192" cy="1298448"/>
          </a:xfrm>
          <a:prstGeom prst="roundRect">
            <a:avLst>
              <a:gd name="adj" fmla="val 7042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19288" y="1655064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019288" y="1911096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19288" y="2350008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before discount: 245,403.20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2953512"/>
            <a:ext cx="3822192" cy="1298448"/>
          </a:xfrm>
          <a:prstGeom prst="roundRect">
            <a:avLst>
              <a:gd name="adj" fmla="val 7042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19288" y="3099816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EFFECT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019288" y="335584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gap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019288" y="3794760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After-discount revenue stays below gross GMV every month.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18120" y="4398264"/>
            <a:ext cx="3822192" cy="1298448"/>
          </a:xfrm>
          <a:prstGeom prst="roundRect">
            <a:avLst>
              <a:gd name="adj" fmla="val 7042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19288" y="4544568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019288" y="480060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→ decline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019288" y="5239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rises into early 2025, then declines.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Margins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after discounts, COGS and shipping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30936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work/img/charts/margin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3316"/>
            <a:ext cx="6126480" cy="37999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1441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% of GMV by region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223760" y="1508760"/>
            <a:ext cx="4419295" cy="2788920"/>
          </a:xfrm>
          <a:prstGeom prst="roundRect">
            <a:avLst>
              <a:gd name="adj" fmla="val 3279"/>
            </a:avLst>
          </a:prstGeom>
          <a:solidFill>
            <a:srgbClr val="17293C"/>
          </a:solidFill>
          <a:ln w="12700">
            <a:solidFill>
              <a:srgbClr val="2B42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%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20299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01200" y="20299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21.50%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23957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23957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21.28%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7614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0" y="27614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21.20%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3127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Jeddah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0" y="31272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21.05%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0" y="34930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20.93%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38587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AbuDhabi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0" y="38587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20.40%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223760" y="4480560"/>
            <a:ext cx="4419295" cy="1280160"/>
          </a:xfrm>
          <a:prstGeom prst="roundRect">
            <a:avLst>
              <a:gd name="adj" fmla="val 7143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24928" y="4626864"/>
            <a:ext cx="4016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MARGIN RANGE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424928" y="4882896"/>
            <a:ext cx="40169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20.40% – 21.50%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7424928" y="5303520"/>
            <a:ext cx="4016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are relatively close across regions.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Item Price by Category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Hady  •  Supporting product economics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work/img/charts/avg_price_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14958"/>
            <a:ext cx="6217920" cy="385668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144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item price by category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15200" y="1508760"/>
            <a:ext cx="4325112" cy="1298448"/>
          </a:xfrm>
          <a:prstGeom prst="roundRect">
            <a:avLst>
              <a:gd name="adj" fmla="val 7042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16368" y="1655064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516368" y="1911096"/>
            <a:ext cx="3922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164.57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516368" y="2350008"/>
            <a:ext cx="3922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price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0" y="2953512"/>
            <a:ext cx="4325112" cy="1298448"/>
          </a:xfrm>
          <a:prstGeom prst="roundRect">
            <a:avLst>
              <a:gd name="adj" fmla="val 7042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16368" y="3099816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516368" y="3355848"/>
            <a:ext cx="3922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80.04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7516368" y="3794760"/>
            <a:ext cx="3922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Second-highest average price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0" y="4398264"/>
            <a:ext cx="4325112" cy="1298448"/>
          </a:xfrm>
          <a:prstGeom prst="roundRect">
            <a:avLst>
              <a:gd name="adj" fmla="val 7042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16368" y="4544568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516368" y="4800600"/>
            <a:ext cx="3922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21.02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7516368" y="5239512"/>
            <a:ext cx="3922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average price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Lifecycle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 •  From signup to repeat purchase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work/img/charts/days_first_purch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847" y="1554480"/>
            <a:ext cx="3247986" cy="269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799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first purchase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53912" y="146304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claude/work/img/charts/total_repeat_one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13" y="1554480"/>
            <a:ext cx="4348998" cy="2697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53912" y="43799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 repeat vs one-time customers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48463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499262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FIRST PURCHASE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5248656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75.3 days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signup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407408" y="48463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608576" y="499262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608576" y="5248656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96.64%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608576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with orders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66176" y="48463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467344" y="499262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1ST → 2ND ORDER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467344" y="5248656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 days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8467344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orders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Lifecycle — Interpretation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retention timing signals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from signup to first purchase: 75.3 days.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2,873 of 2,973 customers are classified as repeat customers.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gap between first and second order: 72.8 days.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 analysis focuses on acquisition-to-purchase timing and repeat behavior.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49440" y="1554480"/>
            <a:ext cx="4690872" cy="1371600"/>
          </a:xfrm>
          <a:prstGeom prst="roundRect">
            <a:avLst>
              <a:gd name="adj" fmla="val 6667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50608" y="1700784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PURCHASE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150608" y="1956816"/>
            <a:ext cx="4288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75.3 days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50608" y="246888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customers with an order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49440" y="3063240"/>
            <a:ext cx="4690872" cy="1371600"/>
          </a:xfrm>
          <a:prstGeom prst="roundRect">
            <a:avLst>
              <a:gd name="adj" fmla="val 6667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50608" y="3209544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50608" y="3465576"/>
            <a:ext cx="4288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397764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more than one order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4690872" cy="1371600"/>
          </a:xfrm>
          <a:prstGeom prst="roundRect">
            <a:avLst>
              <a:gd name="adj" fmla="val 6667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50608" y="4718304"/>
            <a:ext cx="4288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ORDER GAP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150608" y="4974336"/>
            <a:ext cx="4288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 days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5486400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between first and second order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Mohamed  •  Spend, order mix &amp; recency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work/img/charts/top10_sp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840" y="1554480"/>
            <a:ext cx="4893999" cy="269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799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total spend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53912" y="146304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claude/work/img/charts/new_vs_rep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710050"/>
            <a:ext cx="5303520" cy="23863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53912" y="43799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 repeat orders per month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48463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499262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5248656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202164  •  6,564.20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spend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407408" y="48463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608576" y="499262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 ORDERS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608576" y="5248656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608576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the top-spend customer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66176" y="48463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467344" y="499262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ORDERS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467344" y="5248656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Overtake new orders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8467344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mid-2024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Recency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purchase month across customers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0372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work/img/charts/rec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31265"/>
            <a:ext cx="6720840" cy="30240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14416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month of last purchase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1554480"/>
            <a:ext cx="38221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ends in August 2026.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customers' last purchases occur in the more recent months.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60–90 day inactivity percentage would need a follow-up calculation using the dataset's maximum order date.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818120" y="4480560"/>
            <a:ext cx="3822192" cy="1280160"/>
          </a:xfrm>
          <a:prstGeom prst="roundRect">
            <a:avLst>
              <a:gd name="adj" fmla="val 7143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19288" y="4626864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ANALYTICAL STEP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19288" y="4882896"/>
            <a:ext cx="3419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order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019288" y="5303520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an explicit inactivity metric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Devices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Desouky + Ahmed Shaban  •  First three queries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work/img/charts/sales_by_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45294"/>
            <a:ext cx="3337560" cy="20701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342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category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407408" y="14630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claude/work/img/charts/orders_by_dev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160" y="1554480"/>
            <a:ext cx="3192936" cy="2651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07408" y="43342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device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266176" y="14630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/home/claude/work/img/charts/avg_items_or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16" y="1554480"/>
            <a:ext cx="2651760" cy="2651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66176" y="43342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items per order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480060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49808" y="494690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SALES CATEGORY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749808" y="5202936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 • 1,594,473.44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49808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407408" y="480060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608576" y="494690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SPLIT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608576" y="5202936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8,086 • App 6,914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608576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54% / 46%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266176" y="480060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467344" y="494690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ITEMS / ORDER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67344" y="5202936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467344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SQL query result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Spend &amp; Returns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product and customer-experience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work/img/charts/aov_de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92" y="1554480"/>
            <a:ext cx="3192936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342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by device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407408" y="14630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claude/work/img/charts/return_rate_reg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845294"/>
            <a:ext cx="3337560" cy="20701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07408" y="43342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by region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266176" y="14630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/home/claude/work/img/charts/return_reas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845294"/>
            <a:ext cx="3337560" cy="20701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66176" y="43342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reasons for returns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480060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49808" y="494690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749808" y="5202936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243.21 • Web 242.69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49808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close across devices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407408" y="480060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608576" y="494690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RANGE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608576" y="5202936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9.54% – 10.70%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4608576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rates are relatively close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266176" y="480060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7293C"/>
          </a:solidFill>
          <a:ln w="12700">
            <a:solidFill>
              <a:srgbClr val="E4586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467344" y="494690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RETURN REASON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67344" y="5202936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• 441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467344" y="553212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size follows with 394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view of the main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9047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830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898648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3240" y="149047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17830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248656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13248" y="149047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13248" y="17830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96.64%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598664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9B7B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63256" y="149047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items / order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63256" y="17830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48672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17293C"/>
          </a:solidFill>
          <a:ln w="12700">
            <a:solidFill>
              <a:srgbClr val="E458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13264" y="149047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return rate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113264" y="17830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10.70%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48640" y="256032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0" descr="/home/claude/work/img/charts/revenue_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431" y="2651760"/>
            <a:ext cx="2678819" cy="13258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4105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53912" y="256032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1" descr="/home/claude/work/img/charts/new_vs_rep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762" y="2651760"/>
            <a:ext cx="2946701" cy="132588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53912" y="4105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 repeat orders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45262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/home/claude/work/img/charts/sales_by_c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750" y="4617720"/>
            <a:ext cx="1990220" cy="12344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48640" y="59801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sales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407408" y="45262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3" descr="/home/claude/work/img/charts/return_rate_reg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518" y="4617720"/>
            <a:ext cx="1990220" cy="12344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407408" y="59801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return rate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8266176" y="45262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4" descr="/home/claude/work/img/charts/return_reas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1286" y="4617720"/>
            <a:ext cx="1990220" cy="123444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266176" y="59801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reasons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shows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increased substantially through early 2025 before declining later in the observed period.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margin percentages are tightly grouped around 20–21.5% of GMV.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represent 96.64% of customers with orders in the analysis.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 is the largest sales category and also has the highest average item price.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generates more orders than App, while average order value is nearly identical.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rates are close across regions; damaged items and wrong size are the two most frequent reasons.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76402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5020056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peak + decline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534924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 Mar 2025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46177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476402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5020056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repeat behavior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534924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96.64% repeat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66176" y="461772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7293C"/>
          </a:solidFill>
          <a:ln w="12700">
            <a:solidFill>
              <a:srgbClr val="E45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67344" y="4764024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4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5020056"/>
            <a:ext cx="3118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+ sizing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67344" y="534924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two return reasons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— KPI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table of the main outputs reported by the analysis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5056632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base in p2_users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analyzed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with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included in lifecycle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customers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with more than one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Repeat-customer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customers / customers with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items /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revenue 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monthly gross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— Regional Margins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GMV − Discount − COGS − Shipping Cost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5056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in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Alexandria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reported regional margin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Jeddah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Riyadh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AbuDhabi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reported regional margin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0585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range: 20.40% – 21.50%  —  regional percentages are relatively close.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— Customer Lifecycle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→ first purchase → repeat purchase timing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94560"/>
                <a:gridCol w="4873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signup → first purchase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75.3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across customers with an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with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analysis population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customers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one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Repeat-customer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customers with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first → second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gap between first and second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389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in the analysis are repeat customers; the timing metrics quantify the purchase cycle.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— Customer Value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order-frequency outputs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108960"/>
                <a:gridCol w="43251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customer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total spend in the reported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customer total spend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6,564.20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 for customer 202164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customer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orders by the top-spend customer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vs repeat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overtakes new around mid-2024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order-mix trend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— Products &amp; Categories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sales and average item-price outputs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560320"/>
                <a:gridCol w="4873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KPI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1,594,473.44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total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average item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Second-highest average item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average item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items /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Order-level quantity indicator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389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 leads reported sales and also has the highest reported average item price.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— Device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and average order value by device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620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order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8,086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54% of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242.69 AOV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6,914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46% of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243.21 AOV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43814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has the higher order count, while average order value is nearly identical across devices.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— Return Rate by Region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return-rate outputs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560320"/>
                <a:gridCol w="45079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reported return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maximum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reported return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minimum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9.54% – 10.70%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are relatively close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0507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does not show a large regional spread in return rates.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— Return Reasons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return reasons in the reported results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46908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in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frequent reported reason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most frequent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mind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(from the chart)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delivery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Fourth (from the chart)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3E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reasons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389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items and wrong size together dominate the reported return reasons.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Power BI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Rojeh Tamer in Microsoft Power BI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50392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work/img/char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018" y="1554480"/>
            <a:ext cx="8143164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35440" y="1463040"/>
            <a:ext cx="2404872" cy="1097280"/>
          </a:xfrm>
          <a:prstGeom prst="roundRect">
            <a:avLst>
              <a:gd name="adj" fmla="val 8333"/>
            </a:avLst>
          </a:prstGeom>
          <a:solidFill>
            <a:srgbClr val="17293C"/>
          </a:solidFill>
          <a:ln w="12700">
            <a:solidFill>
              <a:srgbClr val="F28B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436608" y="1609344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436608" y="1865376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Rojeh Tamer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436608" y="210312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235440" y="2697480"/>
            <a:ext cx="2404872" cy="1097280"/>
          </a:xfrm>
          <a:prstGeom prst="roundRect">
            <a:avLst>
              <a:gd name="adj" fmla="val 8333"/>
            </a:avLst>
          </a:prstGeom>
          <a:solidFill>
            <a:srgbClr val="17293C"/>
          </a:solidFill>
          <a:ln w="12700">
            <a:solidFill>
              <a:srgbClr val="22B8B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36608" y="2843784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9436608" y="3099816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666.27K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9436608" y="333756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235440" y="3931920"/>
            <a:ext cx="2404872" cy="1097280"/>
          </a:xfrm>
          <a:prstGeom prst="roundRect">
            <a:avLst>
              <a:gd name="adj" fmla="val 8333"/>
            </a:avLst>
          </a:prstGeom>
          <a:solidFill>
            <a:srgbClr val="17293C"/>
          </a:solidFill>
          <a:ln w="12700">
            <a:solidFill>
              <a:srgbClr val="3FBF8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36608" y="4078224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MARGIN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9436608" y="4334256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163.00K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436608" y="457200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35440" y="5166360"/>
            <a:ext cx="2404872" cy="1051560"/>
          </a:xfrm>
          <a:prstGeom prst="roundRect">
            <a:avLst>
              <a:gd name="adj" fmla="val 8696"/>
            </a:avLst>
          </a:prstGeom>
          <a:solidFill>
            <a:srgbClr val="17293C"/>
          </a:solidFill>
          <a:ln w="12700">
            <a:solidFill>
              <a:srgbClr val="9B7B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436608" y="5312664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B7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436608" y="5568696"/>
            <a:ext cx="2002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• Device • Category • Date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2636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dashboard KPIs and filters are shown exactly as in the Power BI report; they are kept separate from the notebook query-result tables.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63367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Analytics  •  Project 2      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Analytics — Project 2</dc:title>
  <dc:subject>PptxGenJS Presentation</dc:subject>
  <dc:creator>E-Commerce Analytics Team</dc:creator>
  <cp:lastModifiedBy>E-Commerce Analytics Team</cp:lastModifiedBy>
  <cp:revision>1</cp:revision>
  <dcterms:created xsi:type="dcterms:W3CDTF">2026-09-16T16:09:39Z</dcterms:created>
  <dcterms:modified xsi:type="dcterms:W3CDTF">2026-09-16T16:09:39Z</dcterms:modified>
</cp:coreProperties>
</file>